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Modelo de Precificação de Imóveis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67E22"/>
                </a:solidFill>
              </a:rPr>
              <a:t>King County, Washington — Generalização geográfica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Visão Executiva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</a:rPr>
              <a:t>O desafio: prever preços em regiões que o modelo nunca viu durante o treinamento.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194560" cy="137160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US$ 72.517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Erro Médio Absoluto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194560"/>
            <a:ext cx="2194560" cy="137160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2860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~14%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92608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Desvio Percentual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194560"/>
            <a:ext cx="2194560" cy="137160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22860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21.612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Imóveis Testados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2194560"/>
            <a:ext cx="2194560" cy="137160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2860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Regiões (CEPs)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Regiões inteiras foram reservadas para avaliação final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Resultado preservado e verificado apenas uma vez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✓ Sistema operacional com API, monitoramento e governança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O Desafio Principal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</a:rPr>
              <a:t>Validação Convencional vs Validação Geográfica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25603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5E"/>
                </a:solidFill>
              </a:rPr>
              <a:t>Separação Aleatória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Treino e teste aleatoriamente misturados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Pergunta: "Prevo casas parecidas?"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⚠️ Não simula expansão geográfica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657600" cy="2560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Separação Geográfica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5146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✓ Regiões inteiras reservadas para teste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✓ Pergunta: "Prevo em bairros novos?"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✓ Simula expansão de mercado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Onde o Modelo Acerta e Onde Erra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A precisão varia MUITO conforme a faixa de preço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777240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Segmento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Faixa Aproximada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Erro Médio Absoluto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Entrada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até ~US$ 320k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US$ 45.808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Padrão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~US$ 320–460k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US$ 47.582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Alto Padrão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~US$ 460–669k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US$ 64.488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Luxo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acima de ~US$ 669k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US$ 165.303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⚠️ Segmento Luxo: erro 3,6x maior que Entrada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Os 3 Fatores Principais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O que o modelo mais usa para prever o preço?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" cy="3657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5E"/>
                </a:solidFill>
              </a:rPr>
              <a:t>Preço de Comparáveis (r=0,83)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Média das 30 vendas mais próximas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5E"/>
                </a:solidFill>
              </a:rPr>
              <a:t>Qualidade Construtiva (r=0,70)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Acabamento e padrão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5E"/>
                </a:solidFill>
              </a:rPr>
              <a:t>Área Construída (r=0,70)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Metragem útil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4C3C"/>
                </a:solidFill>
              </a:rPr>
              <a:t>⚠️ O fator mais forte (comparáveis) é também o mais frágil em regiões novas.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Score de Confiança (0–100)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Cada previsão vem com um indicador de risco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≥ 88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Alta confiança: Histórico consistente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≥ 55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Moderada: Variação próxima da mediana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566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≥ 17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Baixa: Erro acima da mediana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&lt; 17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Muito baixa: Fora da cobertura conhecida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4C3C"/>
                </a:solidFill>
              </a:rPr>
              <a:t>⚠️ Confiança é indicador de risco, não garantia matemática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Explicabilidade com SHAP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Por que este imóvel recebeu esta previsão?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A solução disponibiliza explicações locais e globais: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Explicação local: quais características mais influenciaram a previsão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Explicação global: ranking das variáveis mais relevantes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Facilita análise de casos atípicos e auditoria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7772400" cy="10972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0332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</a:rPr>
              <a:t>Benefício: investigação rápida de previsões inesperadas, comunicação clara com usuários, e auditoria facilitada.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Monitoramento Contínuo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A precisão hoje não garante sucesso amanhã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O sistema acompanha: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Mudanças nas distribuições dos dados (drift)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Alterações no perfil dos imóveis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Degradação concentrada por segmento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Disponibilidade de dados comparáveis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Desempenho por faixa de preço e perfil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7772400" cy="7315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319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Evita depender de uma média global que poderia esconder degradação em um segmento específico.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Aprendizado Contínuo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Como evoluir o modelo com novos dados de mercado?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Fluxo de Treinamento: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914400" cy="5486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Novo Dado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914400" cy="5486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Treinar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2468880"/>
            <a:ext cx="914400" cy="5486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Candidato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2468880"/>
            <a:ext cx="914400" cy="5486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Avaliar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2468880"/>
            <a:ext cx="914400" cy="5486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Quarentena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468880"/>
            <a:ext cx="914400" cy="5486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Decidir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2468880"/>
            <a:ext cx="914400" cy="54864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Promover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⚠️ O modelo NUNCA se substitui sozinho. Toda promoção exige decisão humana.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Isso garante que uma melhoria em uma métrica não seja suficiente para substituir o modelo ativo.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Governança: 4 Etapas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Separação clara de responsabilidades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Treinar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Criar novo modelo com dados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Avaliar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Testar em dados realmente não vistos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Aprovar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840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Revisão humana com autenticação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Promover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5720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Ativar em produção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API Operacional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20 endpoints organizados por responsabilidade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Inferência: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Preço, segmento, cluster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657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057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Lotes: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Até 500 imóveis por vez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657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Confiança: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Score e detalhamento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743200"/>
            <a:ext cx="3657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Explicabilidade: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SHAP local e global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657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Performance: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3520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Volume e erro real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474720"/>
            <a:ext cx="3657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Treinamento: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520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Novos modelos candidatos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657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Versionamento: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Histórico de modelos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4206240"/>
            <a:ext cx="36576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251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Health: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Estado e métricas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Arquitetura em Camadas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Separação clara de responsabilidades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5486400" cy="731520"/>
          </a:xfrm>
          <a:prstGeom prst="rect">
            <a:avLst/>
          </a:prstGeom>
          <a:solidFill>
            <a:srgbClr val="1B3B5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/ 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HTTP + autenticação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108960"/>
            <a:ext cx="5486400" cy="7315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Casos de uso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4023360"/>
            <a:ext cx="5486400" cy="7315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Domain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Entidades + regras + ports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4937760"/>
            <a:ext cx="54864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4983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Infrastructure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Modelo + dados + monitoria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A API não reimplementa a lógica de ML — reutiliza o pipeline original.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Qualidade e Testes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146 testes automatizados + disciplina de validação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</a:rPr>
              <a:t>Validação no código ML: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✓ Critérios definidos ANTES dos experimentos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✓ Separação rigorosa entre treino e avaliação final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✓ Controle de vazamento de informação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✓ Regiões geográficas isoladas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✓ Hipóteses rejeitadas quando não generalizaram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✓ Decisões documentadas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Limitações Conhecidas (não escondidas)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A transparência é parte da proposta de valor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7724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Imóveis de Luxo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20574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Erro 3,6x maior → revisão humana recomendada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77724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Frente d'água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7889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Características muito específicas → não automatizar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77724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Dependência de Comparáveis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520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Fraco em regiões com pouca densidade histórica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7772400" cy="64008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B5E"/>
                </a:solidFill>
              </a:rPr>
              <a:t>Confiança não é Garantia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42519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Indicador de risco baseado em evidência histórica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Recomendações para Uso no Negócio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Como aproveitar este sistema com segurança?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1. Metas por segmento: não use uma meta global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   • Entrada/Padrão: ~US$ 60k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   • Alto padrão: ~US$ 90k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   • Luxo: ~US$ 220k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2. Revisão humana para: luxo, frente d'água, baixa confiança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3. Monitorar por segmento, não apenas média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4. Novo modelo ≠ automaticamente melhor modelo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Decisões Mais Claras Agora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Com esses resultados, podemos definir...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Onde Automatizar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Entrada/Padrão com boa cobertura de dados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Onde Exercer Cautela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Alto padrão e baixa confiança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Onde Manter Humano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Luxo e frente d'água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Promoção de Modelo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6177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Sempre sob decisão humana, nunca automática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Um Teste que Não Passou (e Por Que É Bom)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Dados sintéticos pareciam melhorar o modelo...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840480" cy="16459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No Treino: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~20% de melhora aparente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2011680"/>
            <a:ext cx="3840480" cy="164592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Em Regiões Novas (Real):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~9% de piora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Decisão: técnica foi REVERTIDA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Processo de validação funcionou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✓ Métrica melhor no treino ≠ melhoria real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Próximos Passos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7E22"/>
                </a:solidFill>
              </a:rPr>
              <a:t>De desenvolvimento para operação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Operacionalização: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• Implantação em cloud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• Integração com sistemas consumidores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• CI/CD e observabilidade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Governança: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• Definir responsáveis por aprovação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• Estabelecer SLAs e critérios de alerta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C3E50"/>
                </a:solidFill>
              </a:rPr>
              <a:t>• Política de auditoria e limites de autonomia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E"/>
                </a:solidFill>
              </a:rPr>
              <a:t>Machine Learning: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Acompanhar erro real em operação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Aprofundar análise do segmento de luxo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• Recalibrar score de confiança periodicamente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B5E"/>
                </a:solidFill>
              </a:rPr>
              <a:t>Conclusão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O modelo generaliza para regiões nunca vistas.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67E22"/>
                </a:solidFill>
              </a:rPr>
              <a:t>MAE: US$ 72.517 | Desvio: ~14% | Avaliação em bairros reais não vistos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Mas o número global esconde diferenças importantes: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1. Desempenho varia MUITO por segmento (3,6x entre Entrada e Luxo)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2. Dados comparáveis são a principal fonte de sinal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3. Ausência de comparáveis reduz confiança em regiões novas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4. Dados sintéticos que pareciam bons pioraram generalização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5. Confiança é indicador de risco, não garantia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6. Novos modelos exigem aprovação humana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7. Imóveis de luxo precisam revisão humana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Sistema de Apoio à Decisão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67E22"/>
                </a:solidFill>
              </a:rPr>
              <a:t>Não uma máquina que entrega preços — uma ferramenta que estima com confiança, explica e evolui controladamente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Pronto para operação real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2026-08-18T23:20:38Z</dcterms:created>
  <dcterms:modified xsi:type="dcterms:W3CDTF">2026-08-18T23:20:38Z</dcterms:modified>
</cp:coreProperties>
</file>